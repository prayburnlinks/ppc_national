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03520"/>
            <a:ext cx="12188952" cy="1554480"/>
          </a:xfrm>
          <a:prstGeom prst="rect">
            <a:avLst/>
          </a:prstGeom>
          <a:solidFill>
            <a:srgbClr val="C9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600" b="1" i="0">
                <a:solidFill>
                  <a:srgbClr val="FFFFFF"/>
                </a:solidFill>
              </a:rPr>
              <a:t>PPC NATIONAL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031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1">
                <a:solidFill>
                  <a:srgbClr val="C9A03C"/>
                </a:solidFill>
              </a:rPr>
              <a:t>I Love My Church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346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CCD6FF"/>
                </a:solidFill>
              </a:rPr>
              <a:t>Mobile App — Connecting Every Member,
Every District, Every Congregation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A234E"/>
                </a:solidFill>
              </a:rPr>
              <a:t>Pentecostal Protestant Church · South Africa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943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A234E"/>
                </a:solidFill>
              </a:rPr>
              <a:t>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6629400"/>
            <a:ext cx="5486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66688"/>
                </a:solidFill>
              </a:rPr>
              <a:t>Developed by Prayburn Links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C9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8288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What is the PPC National App?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F7A"/>
                </a:solidFill>
              </a:rPr>
              <a:t>A purpose-built mobile application for the Pentecostal Protestant Church of South Africa — giving every member, leader, and district a single digital home for worship, connection, and administration.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286000"/>
            <a:ext cx="3657600" cy="1463040"/>
          </a:xfrm>
          <a:prstGeom prst="rect">
            <a:avLst/>
          </a:prstGeom>
          <a:solidFill>
            <a:srgbClr val="F0F4FF"/>
          </a:solidFill>
          <a:ln w="15240">
            <a:solidFill>
              <a:srgbClr val="C9A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33172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1A234E"/>
                </a:solidFill>
              </a:rP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8346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234E"/>
                </a:solidFill>
              </a:rPr>
              <a:t>Districts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1546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5F7A"/>
                </a:solidFill>
              </a:rPr>
              <a:t>Nationwide coverage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0" y="2286000"/>
            <a:ext cx="3657600" cy="1463040"/>
          </a:xfrm>
          <a:prstGeom prst="rect">
            <a:avLst/>
          </a:prstGeom>
          <a:solidFill>
            <a:srgbClr val="F0F4FF"/>
          </a:solidFill>
          <a:ln w="15240">
            <a:solidFill>
              <a:srgbClr val="C9A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233172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1A234E"/>
                </a:solidFill>
              </a:rPr>
              <a:t>36+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28346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234E"/>
                </a:solidFill>
              </a:rPr>
              <a:t>Congregations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31546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5F7A"/>
                </a:solidFill>
              </a:rPr>
              <a:t>Across South Africa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21040" y="2286000"/>
            <a:ext cx="3657600" cy="1463040"/>
          </a:xfrm>
          <a:prstGeom prst="rect">
            <a:avLst/>
          </a:prstGeom>
          <a:solidFill>
            <a:srgbClr val="F0F4FF"/>
          </a:solidFill>
          <a:ln w="15240">
            <a:solidFill>
              <a:srgbClr val="C9A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233172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1A234E"/>
                </a:solidFill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8346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234E"/>
                </a:solidFill>
              </a:rPr>
              <a:t>Giving Funds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31546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5F7A"/>
                </a:solidFill>
              </a:rPr>
              <a:t>Tithes, Missions &amp; more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931920"/>
            <a:ext cx="112471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555F7A"/>
                </a:solidFill>
              </a:rPr>
              <a:t>✦  Built with React Native + Expo — runs on iOS and Android from one codebase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555F7A"/>
                </a:solidFill>
              </a:rPr>
              <a:t>✦  Firebase back-end: real-time database, authentication, cloud storage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555F7A"/>
                </a:solidFill>
              </a:rPr>
              <a:t>✦  Role-based access: Visitor → Member → Leader → Admin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555F7A"/>
                </a:solidFill>
              </a:rPr>
              <a:t>✦  Push notifications keep every member informed instantly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555F7A"/>
                </a:solidFill>
              </a:rPr>
              <a:t>✦  Designed for low-data environments common in rural South Africa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" y="6629400"/>
            <a:ext cx="5486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888888"/>
                </a:solidFill>
              </a:rPr>
              <a:t>Developed by Prayburn Links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C9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8288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Key Benefits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71600"/>
            <a:ext cx="3749039" cy="2194560"/>
          </a:xfrm>
          <a:prstGeom prst="rect">
            <a:avLst/>
          </a:prstGeom>
          <a:solidFill>
            <a:srgbClr val="F0F4FF"/>
          </a:solidFill>
          <a:ln w="15240">
            <a:solidFill>
              <a:srgbClr val="C9A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50876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234E"/>
                </a:solidFill>
              </a:rPr>
              <a:t>🏠  Unified Home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965960"/>
            <a:ext cx="3474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55F7A"/>
                </a:solidFill>
              </a:rPr>
              <a:t>One app for all church communication — no more WhatsApp clutter or missed emails.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371600"/>
            <a:ext cx="3749039" cy="2194560"/>
          </a:xfrm>
          <a:prstGeom prst="rect">
            <a:avLst/>
          </a:prstGeom>
          <a:solidFill>
            <a:srgbClr val="F0F4FF"/>
          </a:solidFill>
          <a:ln w="15240">
            <a:solidFill>
              <a:srgbClr val="C9A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34840" y="150876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234E"/>
                </a:solidFill>
              </a:rPr>
              <a:t>🎟  Event Registration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1965960"/>
            <a:ext cx="3474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55F7A"/>
                </a:solidFill>
              </a:rPr>
              <a:t>Members register for events and upload proof of payment directly in the app.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1371600"/>
            <a:ext cx="3749039" cy="2194560"/>
          </a:xfrm>
          <a:prstGeom prst="rect">
            <a:avLst/>
          </a:prstGeom>
          <a:solidFill>
            <a:srgbClr val="F0F4FF"/>
          </a:solidFill>
          <a:ln w="15240">
            <a:solidFill>
              <a:srgbClr val="C9A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150876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234E"/>
                </a:solidFill>
              </a:rPr>
              <a:t>💛  Digital Giving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1965960"/>
            <a:ext cx="3474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55F7A"/>
                </a:solidFill>
              </a:rPr>
              <a:t>Tithe, offerings, building fund, missions — all funds in one place with EFT guidance.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840480"/>
            <a:ext cx="3749039" cy="2194560"/>
          </a:xfrm>
          <a:prstGeom prst="rect">
            <a:avLst/>
          </a:prstGeom>
          <a:solidFill>
            <a:srgbClr val="F0F4FF"/>
          </a:solidFill>
          <a:ln w="15240">
            <a:solidFill>
              <a:srgbClr val="C9A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97764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234E"/>
                </a:solidFill>
              </a:rPr>
              <a:t>🙏  Prayer Wall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434840"/>
            <a:ext cx="3474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55F7A"/>
                </a:solidFill>
              </a:rPr>
              <a:t>Members submit and pray for requests nationally or within their district.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0" y="3840480"/>
            <a:ext cx="3749039" cy="2194560"/>
          </a:xfrm>
          <a:prstGeom prst="rect">
            <a:avLst/>
          </a:prstGeom>
          <a:solidFill>
            <a:srgbClr val="F0F4FF"/>
          </a:solidFill>
          <a:ln w="15240">
            <a:solidFill>
              <a:srgbClr val="C9A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34840" y="397764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234E"/>
                </a:solidFill>
              </a:rPr>
              <a:t>📡  Live &amp; Media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4434840"/>
            <a:ext cx="3474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55F7A"/>
                </a:solidFill>
              </a:rPr>
              <a:t>Direct links to YouTube Live and Facebook with live-status indicators.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0" y="3840480"/>
            <a:ext cx="3749039" cy="2194560"/>
          </a:xfrm>
          <a:prstGeom prst="rect">
            <a:avLst/>
          </a:prstGeom>
          <a:solidFill>
            <a:srgbClr val="F0F4FF"/>
          </a:solidFill>
          <a:ln w="15240">
            <a:solidFill>
              <a:srgbClr val="C9A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66760" y="397764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234E"/>
                </a:solidFill>
              </a:rPr>
              <a:t>📋  Administration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60" y="4434840"/>
            <a:ext cx="3474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55F7A"/>
                </a:solidFill>
              </a:rPr>
              <a:t>Admins manage members, approve registrations, and post announcements.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" y="6629400"/>
            <a:ext cx="5486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888888"/>
                </a:solidFill>
              </a:rPr>
              <a:t>Developed by Prayburn Links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9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8288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Feature Overview — All 13 Screens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36576"/>
          </a:xfrm>
          <a:prstGeom prst="rect">
            <a:avLst/>
          </a:prstGeom>
          <a:solidFill>
            <a:srgbClr val="C9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005840"/>
            <a:ext cx="5669280" cy="457200"/>
          </a:xfrm>
          <a:prstGeom prst="rect">
            <a:avLst/>
          </a:prstGeom>
          <a:solidFill>
            <a:srgbClr val="222D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05156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A03C"/>
                </a:solidFill>
              </a:rPr>
              <a:t>🔐 Login &amp; Register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4600" y="105156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FF"/>
                </a:solidFill>
              </a:rPr>
              <a:t>Secure sign-up with district/congregation assignment; pending approval flow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005840"/>
            <a:ext cx="5669280" cy="457200"/>
          </a:xfrm>
          <a:prstGeom prst="rect">
            <a:avLst/>
          </a:prstGeom>
          <a:solidFill>
            <a:srgbClr val="222D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05156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A03C"/>
                </a:solidFill>
              </a:rPr>
              <a:t>🏠 Home Dashboard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105156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FF"/>
                </a:solidFill>
              </a:rPr>
              <a:t>Personalised greeting, upcoming events feed, quick-action buttons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1527048"/>
            <a:ext cx="5669280" cy="457200"/>
          </a:xfrm>
          <a:prstGeom prst="rect">
            <a:avLst/>
          </a:prstGeom>
          <a:solidFill>
            <a:srgbClr val="222D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1572768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A03C"/>
                </a:solidFill>
              </a:rPr>
              <a:t>🎟 Events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4600" y="157276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FF"/>
                </a:solidFill>
              </a:rPr>
              <a:t>Browse all events by category; one-tap registration + POP upload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527048"/>
            <a:ext cx="5669280" cy="457200"/>
          </a:xfrm>
          <a:prstGeom prst="rect">
            <a:avLst/>
          </a:prstGeom>
          <a:solidFill>
            <a:srgbClr val="222D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1572768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A03C"/>
                </a:solidFill>
              </a:rPr>
              <a:t>💛 Giving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157276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FF"/>
                </a:solidFill>
              </a:rPr>
              <a:t>6 fund types; preset amounts; EFT bank details with reference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2048256"/>
            <a:ext cx="5669280" cy="457200"/>
          </a:xfrm>
          <a:prstGeom prst="rect">
            <a:avLst/>
          </a:prstGeom>
          <a:solidFill>
            <a:srgbClr val="222D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2093976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A03C"/>
                </a:solidFill>
              </a:rPr>
              <a:t>🙏 Prayer Wall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14600" y="2093976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FF"/>
                </a:solidFill>
              </a:rPr>
              <a:t>National &amp; district prayer requests; pray counter; submit your own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2048256"/>
            <a:ext cx="5669280" cy="457200"/>
          </a:xfrm>
          <a:prstGeom prst="rect">
            <a:avLst/>
          </a:prstGeom>
          <a:solidFill>
            <a:srgbClr val="222D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2093976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A03C"/>
                </a:solidFill>
              </a:rPr>
              <a:t>📡 Media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58200" y="2093976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FF"/>
                </a:solidFill>
              </a:rPr>
              <a:t>YouTube &amp; Facebook links; live indicator; daily scripture rotation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2569464"/>
            <a:ext cx="5669280" cy="457200"/>
          </a:xfrm>
          <a:prstGeom prst="rect">
            <a:avLst/>
          </a:prstGeom>
          <a:solidFill>
            <a:srgbClr val="222D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" y="2615184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A03C"/>
                </a:solidFill>
              </a:rPr>
              <a:t>🗺  Districts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14600" y="2615184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FF"/>
                </a:solidFill>
              </a:rPr>
              <a:t>All 9 districts, congregation count, and district board details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63640" y="2569464"/>
            <a:ext cx="5669280" cy="457200"/>
          </a:xfrm>
          <a:prstGeom prst="rect">
            <a:avLst/>
          </a:prstGeom>
          <a:solidFill>
            <a:srgbClr val="222D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5080" y="2615184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A03C"/>
                </a:solidFill>
              </a:rPr>
              <a:t>📋 National Board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58200" y="2615184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FF"/>
                </a:solidFill>
              </a:rPr>
              <a:t>Leadership profiles with photos, titles, and contact info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3090672"/>
            <a:ext cx="5669280" cy="457200"/>
          </a:xfrm>
          <a:prstGeom prst="rect">
            <a:avLst/>
          </a:prstGeom>
          <a:solidFill>
            <a:srgbClr val="222D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3136392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A03C"/>
                </a:solidFill>
              </a:rPr>
              <a:t>📂 Documents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14600" y="313639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FF"/>
                </a:solidFill>
              </a:rPr>
              <a:t>Shared church documents: policies, forms, minutes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3090672"/>
            <a:ext cx="5669280" cy="457200"/>
          </a:xfrm>
          <a:prstGeom prst="rect">
            <a:avLst/>
          </a:prstGeom>
          <a:solidFill>
            <a:srgbClr val="222D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55080" y="3136392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A03C"/>
                </a:solidFill>
              </a:rPr>
              <a:t>👤 Profile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58200" y="313639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FF"/>
                </a:solidFill>
              </a:rPr>
              <a:t>Member profile, congregation, role, and account settings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" y="3611879"/>
            <a:ext cx="5669280" cy="457200"/>
          </a:xfrm>
          <a:prstGeom prst="rect">
            <a:avLst/>
          </a:prstGeom>
          <a:solidFill>
            <a:srgbClr val="222D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3657599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A03C"/>
                </a:solidFill>
              </a:rPr>
              <a:t>🛡  Admin Panel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514600" y="3657599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FF"/>
                </a:solidFill>
              </a:rPr>
              <a:t>Manage users, approve members, post events and announcements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" y="6629400"/>
            <a:ext cx="5486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66688"/>
                </a:solidFill>
              </a:rPr>
              <a:t>Developed by Prayburn Links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C9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8288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Home Screen — Your Personal Dashboard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555F7A"/>
                </a:solidFill>
              </a:rPr>
              <a:t>The first thing every member sees after login.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737360"/>
            <a:ext cx="54864" cy="548640"/>
          </a:xfrm>
          <a:prstGeom prst="rect">
            <a:avLst/>
          </a:prstGeom>
          <a:solidFill>
            <a:srgbClr val="C9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234E"/>
                </a:solidFill>
              </a:rPr>
              <a:t>Personalised Greeting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57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55F7A"/>
                </a:solidFill>
              </a:rPr>
              <a:t>Time-aware welcome: Good Morning / Afternoon / Evening + member name.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606039"/>
            <a:ext cx="54864" cy="548640"/>
          </a:xfrm>
          <a:prstGeom prst="rect">
            <a:avLst/>
          </a:prstGeom>
          <a:solidFill>
            <a:srgbClr val="C9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606039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234E"/>
                </a:solidFill>
              </a:rPr>
              <a:t>Upcoming Events Feed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926079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55F7A"/>
                </a:solidFill>
              </a:rPr>
              <a:t>Next 4 events displayed with date badge, title, and location at a glance.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474720"/>
            <a:ext cx="54864" cy="548640"/>
          </a:xfrm>
          <a:prstGeom prst="rect">
            <a:avLst/>
          </a:prstGeom>
          <a:solidFill>
            <a:srgbClr val="C9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4747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234E"/>
                </a:solidFill>
              </a:rPr>
              <a:t>Quick-Action Buttons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794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55F7A"/>
                </a:solidFill>
              </a:rPr>
              <a:t>One tap to Events, Giving, Prayer Wall, and Media from the hero area.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343400"/>
            <a:ext cx="54864" cy="548640"/>
          </a:xfrm>
          <a:prstGeom prst="rect">
            <a:avLst/>
          </a:prstGeom>
          <a:solidFill>
            <a:srgbClr val="C9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3434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234E"/>
                </a:solidFill>
              </a:rPr>
              <a:t>Church Emblem Header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6634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55F7A"/>
                </a:solidFill>
              </a:rPr>
              <a:t>Branded header with PPC emblem, maintaining identity on every visit.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212079"/>
            <a:ext cx="54864" cy="548640"/>
          </a:xfrm>
          <a:prstGeom prst="rect">
            <a:avLst/>
          </a:prstGeom>
          <a:solidFill>
            <a:srgbClr val="C9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5212079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234E"/>
                </a:solidFill>
              </a:rPr>
              <a:t>Live Data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532119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55F7A"/>
                </a:solidFill>
              </a:rPr>
              <a:t>Events pulled live from Firestore — always current, no manual refresh needed.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6629400"/>
            <a:ext cx="5486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888888"/>
                </a:solidFill>
              </a:rPr>
              <a:t>Developed by Prayburn Links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C9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8288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Events &amp; Registration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555F7A"/>
                </a:solidFill>
              </a:rPr>
              <a:t>• Browse events by category: All Districts, Youth, Women, Leaders, Worship, Missions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555F7A"/>
                </a:solidFill>
              </a:rPr>
              <a:t>• Each event card shows: title, date, location, cost, and description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555F7A"/>
                </a:solidFill>
              </a:rPr>
              <a:t>• One-tap registration — member details auto-filled from profile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555F7A"/>
                </a:solidFill>
              </a:rPr>
              <a:t>• Upload Proof of Payment (POP) directly from device storage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555F7A"/>
                </a:solidFill>
              </a:rPr>
              <a:t>• Registration status tracked per user — no double-registrations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555F7A"/>
                </a:solidFill>
              </a:rPr>
              <a:t>• Admins see a full registrant list per event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7680960" y="1371600"/>
            <a:ext cx="4114800" cy="5029200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0" y="1371600"/>
            <a:ext cx="4114800" cy="45720"/>
          </a:xfrm>
          <a:prstGeom prst="rect">
            <a:avLst/>
          </a:prstGeom>
          <a:solidFill>
            <a:srgbClr val="C9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0" y="146304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234E"/>
                </a:solidFill>
              </a:rPr>
              <a:t>Member Journey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8120" y="1920240"/>
            <a:ext cx="3840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555F7A"/>
                </a:solidFill>
              </a:rPr>
              <a:t>1  Browse event list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555F7A"/>
                </a:solidFill>
              </a:rPr>
              <a:t>2  Tap event for details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555F7A"/>
                </a:solidFill>
              </a:rPr>
              <a:t>3  Tap Register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555F7A"/>
                </a:solidFill>
              </a:rPr>
              <a:t>4  Upload POP (if paid event)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555F7A"/>
                </a:solidFill>
              </a:rPr>
              <a:t>5  Receive confirmation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555F7A"/>
                </a:solidFill>
              </a:rPr>
              <a:t>6  See green badge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6629400"/>
            <a:ext cx="5486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888888"/>
                </a:solidFill>
              </a:rPr>
              <a:t>Developed by Prayburn Links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C9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8288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Giving — Tithes, Offerings &amp; More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555F7A"/>
                </a:solidFill>
              </a:rPr>
              <a:t>Members give securely via EFT guided through the app. All transactions are logged to Firestore for reporting.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920240"/>
            <a:ext cx="3657600" cy="1188720"/>
          </a:xfrm>
          <a:prstGeom prst="rect">
            <a:avLst/>
          </a:prstGeom>
          <a:solidFill>
            <a:srgbClr val="F0F4FF"/>
          </a:solidFill>
          <a:ln w="15240">
            <a:solidFill>
              <a:srgbClr val="C9A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201168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4E"/>
                </a:solidFill>
              </a:rPr>
              <a:t>Tithes &amp; Offerings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42316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5F7A"/>
                </a:solidFill>
              </a:rPr>
              <a:t>Regular tithes and weekly offerings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1920240"/>
            <a:ext cx="3657600" cy="1188720"/>
          </a:xfrm>
          <a:prstGeom prst="rect">
            <a:avLst/>
          </a:prstGeom>
          <a:solidFill>
            <a:srgbClr val="F0F4FF"/>
          </a:solidFill>
          <a:ln w="15240">
            <a:solidFill>
              <a:srgbClr val="C9A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201168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4E"/>
                </a:solidFill>
              </a:rPr>
              <a:t>Building Fund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42316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5F7A"/>
                </a:solidFill>
              </a:rPr>
              <a:t>Church building and renovation projects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1920240"/>
            <a:ext cx="3657600" cy="1188720"/>
          </a:xfrm>
          <a:prstGeom prst="rect">
            <a:avLst/>
          </a:prstGeom>
          <a:solidFill>
            <a:srgbClr val="F0F4FF"/>
          </a:solidFill>
          <a:ln w="15240">
            <a:solidFill>
              <a:srgbClr val="C9A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20" y="201168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4E"/>
                </a:solidFill>
              </a:rPr>
              <a:t>Missions &amp; Outreach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242316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5F7A"/>
                </a:solidFill>
              </a:rPr>
              <a:t>Local and international mission work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91840"/>
            <a:ext cx="3657600" cy="1188720"/>
          </a:xfrm>
          <a:prstGeom prst="rect">
            <a:avLst/>
          </a:prstGeom>
          <a:solidFill>
            <a:srgbClr val="F0F4FF"/>
          </a:solidFill>
          <a:ln w="15240">
            <a:solidFill>
              <a:srgbClr val="C9A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38328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4E"/>
                </a:solidFill>
              </a:rPr>
              <a:t>National Convention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9476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5F7A"/>
                </a:solidFill>
              </a:rPr>
              <a:t>Annual convention fund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97680" y="3291840"/>
            <a:ext cx="3657600" cy="1188720"/>
          </a:xfrm>
          <a:prstGeom prst="rect">
            <a:avLst/>
          </a:prstGeom>
          <a:solidFill>
            <a:srgbClr val="F0F4FF"/>
          </a:solidFill>
          <a:ln w="15240">
            <a:solidFill>
              <a:srgbClr val="C9A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34840" y="338328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4E"/>
                </a:solidFill>
              </a:rPr>
              <a:t>Youth Ministry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4840" y="379476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5F7A"/>
                </a:solidFill>
              </a:rPr>
              <a:t>Youth programs and camps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38160" y="3291840"/>
            <a:ext cx="3657600" cy="1188720"/>
          </a:xfrm>
          <a:prstGeom prst="rect">
            <a:avLst/>
          </a:prstGeom>
          <a:solidFill>
            <a:srgbClr val="F0F4FF"/>
          </a:solidFill>
          <a:ln w="15240">
            <a:solidFill>
              <a:srgbClr val="C9A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338328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4E"/>
                </a:solidFill>
              </a:rPr>
              <a:t>Church Welfare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379476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5F7A"/>
                </a:solidFill>
              </a:rPr>
              <a:t>Support for members in need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1722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234E"/>
                </a:solidFill>
              </a:rPr>
              <a:t>Preset amounts (R50, R100, R200, R500) or custom  |  Bank details auto-displayed  |  Reference generated from profile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" y="6629400"/>
            <a:ext cx="5486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888888"/>
                </a:solidFill>
              </a:rPr>
              <a:t>Developed by Prayburn Links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9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12188952" cy="868680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8288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Prayer Wall — United in Prayer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14400"/>
            <a:ext cx="12188952" cy="36576"/>
          </a:xfrm>
          <a:prstGeom prst="rect">
            <a:avLst/>
          </a:prstGeom>
          <a:solidFill>
            <a:srgbClr val="C9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143000"/>
            <a:ext cx="11430000" cy="868680"/>
          </a:xfrm>
          <a:prstGeom prst="rect">
            <a:avLst/>
          </a:prstGeom>
          <a:solidFill>
            <a:srgbClr val="222D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143000"/>
            <a:ext cx="73152" cy="868680"/>
          </a:xfrm>
          <a:prstGeom prst="rect">
            <a:avLst/>
          </a:prstGeom>
          <a:solidFill>
            <a:srgbClr val="C9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2344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9A03C"/>
                </a:solidFill>
              </a:rPr>
              <a:t>National Scope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FF"/>
                </a:solidFill>
              </a:rPr>
              <a:t>Members across all districts can post and pray for national requests.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148840"/>
            <a:ext cx="11430000" cy="868680"/>
          </a:xfrm>
          <a:prstGeom prst="rect">
            <a:avLst/>
          </a:prstGeom>
          <a:solidFill>
            <a:srgbClr val="222D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2148840"/>
            <a:ext cx="73152" cy="868680"/>
          </a:xfrm>
          <a:prstGeom prst="rect">
            <a:avLst/>
          </a:prstGeom>
          <a:solidFill>
            <a:srgbClr val="C9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2402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9A03C"/>
                </a:solidFill>
              </a:rPr>
              <a:t>District Scope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26060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FF"/>
                </a:solidFill>
              </a:rPr>
              <a:t>Requests can be scoped to a specific district for local focus.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154680"/>
            <a:ext cx="11430000" cy="868680"/>
          </a:xfrm>
          <a:prstGeom prst="rect">
            <a:avLst/>
          </a:prstGeom>
          <a:solidFill>
            <a:srgbClr val="222D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3154680"/>
            <a:ext cx="73152" cy="868680"/>
          </a:xfrm>
          <a:prstGeom prst="rect">
            <a:avLst/>
          </a:prstGeom>
          <a:solidFill>
            <a:srgbClr val="C9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2461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9A03C"/>
                </a:solidFill>
              </a:rPr>
              <a:t>Pray Counter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61188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FF"/>
                </a:solidFill>
              </a:rPr>
              <a:t>Every member can tap Pray — a live counter shows support.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160520"/>
            <a:ext cx="11430000" cy="868680"/>
          </a:xfrm>
          <a:prstGeom prst="rect">
            <a:avLst/>
          </a:prstGeom>
          <a:solidFill>
            <a:srgbClr val="222D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5760" y="4160520"/>
            <a:ext cx="73152" cy="868680"/>
          </a:xfrm>
          <a:prstGeom prst="rect">
            <a:avLst/>
          </a:prstGeom>
          <a:solidFill>
            <a:srgbClr val="C9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42519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9A03C"/>
                </a:solidFill>
              </a:rPr>
              <a:t>Easy Submission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46177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FF"/>
                </a:solidFill>
              </a:rPr>
              <a:t>Title + body form with character limits; auto-linked to member profile.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5166360"/>
            <a:ext cx="11430000" cy="868680"/>
          </a:xfrm>
          <a:prstGeom prst="rect">
            <a:avLst/>
          </a:prstGeom>
          <a:solidFill>
            <a:srgbClr val="222D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65760" y="5166360"/>
            <a:ext cx="73152" cy="868680"/>
          </a:xfrm>
          <a:prstGeom prst="rect">
            <a:avLst/>
          </a:prstGeom>
          <a:solidFill>
            <a:srgbClr val="C9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52578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9A03C"/>
                </a:solidFill>
              </a:rPr>
              <a:t>Moderated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5623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FF"/>
                </a:solidFill>
              </a:rPr>
              <a:t>Admins can remove inappropriate content to keep the wall safe.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30936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C9A03C"/>
                </a:solidFill>
              </a:rPr>
              <a:t>"Bear one another's burdens, and so fulfill the law of Christ." — Galatians 6:2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" y="6629400"/>
            <a:ext cx="5486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66688"/>
                </a:solidFill>
              </a:rPr>
              <a:t>Developed by Prayburn Links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C9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8288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Media — Worship Without Borders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3657600" cy="5029200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3657600" cy="7315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A234E"/>
                </a:solidFill>
              </a:rPr>
              <a:t>YouTube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3160"/>
            <a:ext cx="32918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55F7A"/>
                </a:solidFill>
              </a:rPr>
              <a:t>Direct link to PPC National YouTube channel.
Live indicator shows when service is streaming.
One tap opens Live stream.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1371600"/>
            <a:ext cx="3657600" cy="5029200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7680" y="1371600"/>
            <a:ext cx="3657600" cy="73152"/>
          </a:xfrm>
          <a:prstGeom prst="rect">
            <a:avLst/>
          </a:prstGeom>
          <a:solidFill>
            <a:srgbClr val="187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155448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A234E"/>
                </a:solidFill>
              </a:rPr>
              <a:t>Facebook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2423160"/>
            <a:ext cx="32918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55F7A"/>
                </a:solidFill>
              </a:rPr>
              <a:t>Direct link to PPC National Facebook page.
Members can follow for updates, photos,
and community posts.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38160" y="1371600"/>
            <a:ext cx="3657600" cy="5029200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38160" y="1371600"/>
            <a:ext cx="3657600" cy="73152"/>
          </a:xfrm>
          <a:prstGeom prst="rect">
            <a:avLst/>
          </a:prstGeom>
          <a:solidFill>
            <a:srgbClr val="C9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155448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A234E"/>
                </a:solidFill>
              </a:rPr>
              <a:t>Daily Scripture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423160"/>
            <a:ext cx="32918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55F7A"/>
                </a:solidFill>
              </a:rPr>
              <a:t>A different scripture displayed every day
from a curated library of 20+ verses.
Built-in devotional moment on every visit.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9224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0392B"/>
                </a:solidFill>
              </a:rPr>
              <a:t>LIVE badge pulses in real-time when a service is streaming — members never miss a moment.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6629400"/>
            <a:ext cx="5486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888888"/>
                </a:solidFill>
              </a:rPr>
              <a:t>Developed by Prayburn Links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C9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8288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Districts &amp; National Board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234E"/>
                </a:solidFill>
              </a:rPr>
              <a:t>PPC Districts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555F7A"/>
                </a:solidFill>
              </a:rPr>
              <a:t>• Southern Cape — 10 congregations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555F7A"/>
                </a:solidFill>
              </a:rPr>
              <a:t>• Garden Route — 10 congregations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555F7A"/>
                </a:solidFill>
              </a:rPr>
              <a:t>• Eden District — 9 congregations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555F7A"/>
                </a:solidFill>
              </a:rPr>
              <a:t>• Central Cape — 3 congregations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555F7A"/>
                </a:solidFill>
              </a:rPr>
              <a:t>• Northern Cape, Free State, Gauteng, West Coast, Eastern Cape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5488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55F7A"/>
                </a:solidFill>
              </a:rPr>
              <a:t>Each district page shows the full district board:
Chairperson · Deputy · Secretary · Treasurer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188720"/>
            <a:ext cx="5394960" cy="5303520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0" y="1188720"/>
            <a:ext cx="5394960" cy="54864"/>
          </a:xfrm>
          <a:prstGeom prst="rect">
            <a:avLst/>
          </a:prstGeom>
          <a:solidFill>
            <a:srgbClr val="C9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32588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9A03C"/>
                </a:solidFill>
              </a:rPr>
              <a:t>National Board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182880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CCD6FF"/>
                </a:solidFill>
              </a:rPr>
              <a:t>  Leadership profiles with photos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CCD6FF"/>
                </a:solidFill>
              </a:rPr>
              <a:t>  Title and role clearly displayed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CCD6FF"/>
                </a:solidFill>
              </a:rPr>
              <a:t>  Accessible to all members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CCD6FF"/>
                </a:solidFill>
              </a:rPr>
              <a:t>  Updated by Admin in real-time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CCD6FF"/>
                </a:solidFill>
              </a:rPr>
              <a:t>  Encourages transparency and trust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6629400"/>
            <a:ext cx="5486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888888"/>
                </a:solidFill>
              </a:rPr>
              <a:t>Developed by Prayburn Links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C9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8288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Security &amp; Role-Based Access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555F7A"/>
                </a:solidFill>
              </a:rPr>
              <a:t>Every feature is protected. Members can only access what their role permits — ensuring data safety and appropriate governance.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920240"/>
            <a:ext cx="2743200" cy="4572000"/>
          </a:xfrm>
          <a:prstGeom prst="rect">
            <a:avLst/>
          </a:prstGeom>
          <a:solidFill>
            <a:srgbClr val="F0F4FF"/>
          </a:solidFill>
          <a:ln w="15240">
            <a:solidFill>
              <a:srgbClr val="C9A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4688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A234E"/>
                </a:solidFill>
              </a:rPr>
              <a:t>Visitor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7889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55F7A"/>
                </a:solidFill>
              </a:rPr>
              <a:t>Unverified / unauthenticated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108960"/>
            <a:ext cx="2194560" cy="18288"/>
          </a:xfrm>
          <a:prstGeom prst="rect">
            <a:avLst/>
          </a:prstGeom>
          <a:solidFill>
            <a:srgbClr val="C9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3200400"/>
            <a:ext cx="2560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555F7A"/>
                </a:solidFill>
              </a:rPr>
              <a:t>• View public content only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555F7A"/>
                </a:solidFill>
              </a:rPr>
              <a:t>• No access to giving or prayer wall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555F7A"/>
                </a:solidFill>
              </a:rPr>
              <a:t>• Prompted to register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91840" y="1920240"/>
            <a:ext cx="2743200" cy="4572000"/>
          </a:xfrm>
          <a:prstGeom prst="rect">
            <a:avLst/>
          </a:prstGeom>
          <a:solidFill>
            <a:srgbClr val="F0F4FF"/>
          </a:solidFill>
          <a:ln w="15240">
            <a:solidFill>
              <a:srgbClr val="C9A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3280" y="24688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A234E"/>
                </a:solidFill>
              </a:rPr>
              <a:t>Member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27889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55F7A"/>
                </a:solidFill>
              </a:rPr>
              <a:t>Approved church member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66160" y="3108960"/>
            <a:ext cx="2194560" cy="18288"/>
          </a:xfrm>
          <a:prstGeom prst="rect">
            <a:avLst/>
          </a:prstGeom>
          <a:solidFill>
            <a:srgbClr val="C9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29000" y="3200400"/>
            <a:ext cx="2560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555F7A"/>
                </a:solidFill>
              </a:rPr>
              <a:t>• Full app access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555F7A"/>
                </a:solidFill>
              </a:rPr>
              <a:t>• Register for events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555F7A"/>
                </a:solidFill>
              </a:rPr>
              <a:t>• Give, pray, view documents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1920240"/>
            <a:ext cx="2743200" cy="4572000"/>
          </a:xfrm>
          <a:prstGeom prst="rect">
            <a:avLst/>
          </a:prstGeom>
          <a:solidFill>
            <a:srgbClr val="F0F4FF"/>
          </a:solidFill>
          <a:ln w="15240">
            <a:solidFill>
              <a:srgbClr val="C9A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0" y="24688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A234E"/>
                </a:solidFill>
              </a:rPr>
              <a:t>Leader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7889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55F7A"/>
                </a:solidFill>
              </a:rPr>
              <a:t>District / congregation leader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92240" y="3108960"/>
            <a:ext cx="2194560" cy="18288"/>
          </a:xfrm>
          <a:prstGeom prst="rect">
            <a:avLst/>
          </a:prstGeom>
          <a:solidFill>
            <a:srgbClr val="C9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55080" y="3200400"/>
            <a:ext cx="2560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555F7A"/>
                </a:solidFill>
              </a:rPr>
              <a:t>• All member access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555F7A"/>
                </a:solidFill>
              </a:rPr>
              <a:t>• View district reports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555F7A"/>
                </a:solidFill>
              </a:rPr>
              <a:t>• Manage local events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0" y="1920240"/>
            <a:ext cx="2743200" cy="4572000"/>
          </a:xfrm>
          <a:prstGeom prst="rect">
            <a:avLst/>
          </a:prstGeom>
          <a:solidFill>
            <a:srgbClr val="F0F4FF"/>
          </a:solidFill>
          <a:ln w="15240">
            <a:solidFill>
              <a:srgbClr val="C9A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35440" y="24688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A234E"/>
                </a:solidFill>
              </a:rPr>
              <a:t>Admin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5440" y="27889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55F7A"/>
                </a:solidFill>
              </a:rPr>
              <a:t>National administrator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418320" y="3108960"/>
            <a:ext cx="2194560" cy="18288"/>
          </a:xfrm>
          <a:prstGeom prst="rect">
            <a:avLst/>
          </a:prstGeom>
          <a:solidFill>
            <a:srgbClr val="C9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81160" y="3200400"/>
            <a:ext cx="2560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555F7A"/>
                </a:solidFill>
              </a:rPr>
              <a:t>• Full control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555F7A"/>
                </a:solidFill>
              </a:rPr>
              <a:t>• Approve/reject members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555F7A"/>
                </a:solidFill>
              </a:rPr>
              <a:t>• Post events &amp; announcements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555F7A"/>
                </a:solidFill>
              </a:rPr>
              <a:t>• View all giving logs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" y="6629400"/>
            <a:ext cx="5486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888888"/>
                </a:solidFill>
              </a:rPr>
              <a:t>Developed by Prayburn Links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9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12188952" cy="868680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8288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Technology Stack — Built to Scale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14400"/>
            <a:ext cx="12188952" cy="36576"/>
          </a:xfrm>
          <a:prstGeom prst="rect">
            <a:avLst/>
          </a:prstGeom>
          <a:solidFill>
            <a:srgbClr val="C9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097280"/>
            <a:ext cx="5669280" cy="1554480"/>
          </a:xfrm>
          <a:prstGeom prst="rect">
            <a:avLst/>
          </a:prstGeom>
          <a:solidFill>
            <a:srgbClr val="222D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097280"/>
            <a:ext cx="64008" cy="1554480"/>
          </a:xfrm>
          <a:prstGeom prst="rect">
            <a:avLst/>
          </a:prstGeom>
          <a:solidFill>
            <a:srgbClr val="C9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2344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9A03C"/>
                </a:solidFill>
              </a:rPr>
              <a:t>React Native + Expo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45920"/>
            <a:ext cx="5303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FF"/>
                </a:solidFill>
              </a:rPr>
              <a:t>Single codebase runs on iOS and Android.
Expo managed workflow for fast builds &amp; OTA updates.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097280"/>
            <a:ext cx="5669280" cy="1554480"/>
          </a:xfrm>
          <a:prstGeom prst="rect">
            <a:avLst/>
          </a:prstGeom>
          <a:solidFill>
            <a:srgbClr val="222D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60" y="1097280"/>
            <a:ext cx="64008" cy="1554480"/>
          </a:xfrm>
          <a:prstGeom prst="rect">
            <a:avLst/>
          </a:prstGeom>
          <a:solidFill>
            <a:srgbClr val="C9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2344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9A03C"/>
                </a:solidFill>
              </a:rPr>
              <a:t>Firebase Auth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645920"/>
            <a:ext cx="5303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FF"/>
                </a:solidFill>
              </a:rPr>
              <a:t>Email/password authentication.
Secure session management out of the box.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834639"/>
            <a:ext cx="5669280" cy="1554480"/>
          </a:xfrm>
          <a:prstGeom prst="rect">
            <a:avLst/>
          </a:prstGeom>
          <a:solidFill>
            <a:srgbClr val="222D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834639"/>
            <a:ext cx="64008" cy="1554480"/>
          </a:xfrm>
          <a:prstGeom prst="rect">
            <a:avLst/>
          </a:prstGeom>
          <a:solidFill>
            <a:srgbClr val="C9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971799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9A03C"/>
                </a:solidFill>
              </a:rPr>
              <a:t>Cloud Firestore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383279"/>
            <a:ext cx="5303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FF"/>
                </a:solidFill>
              </a:rPr>
              <a:t>Real-time NoSQL database.
Offline support, automatic sync when reconnected.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9360" y="2834639"/>
            <a:ext cx="5669280" cy="1554480"/>
          </a:xfrm>
          <a:prstGeom prst="rect">
            <a:avLst/>
          </a:prstGeom>
          <a:solidFill>
            <a:srgbClr val="222D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09360" y="2834639"/>
            <a:ext cx="64008" cy="1554480"/>
          </a:xfrm>
          <a:prstGeom prst="rect">
            <a:avLst/>
          </a:prstGeom>
          <a:solidFill>
            <a:srgbClr val="C9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2971799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9A03C"/>
                </a:solidFill>
              </a:rPr>
              <a:t>Firebase Storage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3383279"/>
            <a:ext cx="5303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FF"/>
                </a:solidFill>
              </a:rPr>
              <a:t>Proof-of-payment documents stored securely.
Role-scoped read/write rules.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4572000"/>
            <a:ext cx="5669280" cy="1554480"/>
          </a:xfrm>
          <a:prstGeom prst="rect">
            <a:avLst/>
          </a:prstGeom>
          <a:solidFill>
            <a:srgbClr val="222D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65760" y="4572000"/>
            <a:ext cx="64008" cy="1554480"/>
          </a:xfrm>
          <a:prstGeom prst="rect">
            <a:avLst/>
          </a:prstGeom>
          <a:solidFill>
            <a:srgbClr val="C9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470916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9A03C"/>
                </a:solidFill>
              </a:rPr>
              <a:t>Expo Notifications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120640"/>
            <a:ext cx="5303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FF"/>
                </a:solidFill>
              </a:rPr>
              <a:t>Push notifications for events, approvals,
and announcements — cross-platform.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4572000"/>
            <a:ext cx="5669280" cy="1554480"/>
          </a:xfrm>
          <a:prstGeom prst="rect">
            <a:avLst/>
          </a:prstGeom>
          <a:solidFill>
            <a:srgbClr val="222D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09360" y="4572000"/>
            <a:ext cx="64008" cy="1554480"/>
          </a:xfrm>
          <a:prstGeom prst="rect">
            <a:avLst/>
          </a:prstGeom>
          <a:solidFill>
            <a:srgbClr val="C9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470916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9A03C"/>
                </a:solidFill>
              </a:rPr>
              <a:t>Firebase Hosting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5120640"/>
            <a:ext cx="5303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FF"/>
                </a:solidFill>
              </a:rPr>
              <a:t>Web fallback (expo web) hosted on Firebase.
Global CDN, free SSL, custom domain ready.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" y="6629400"/>
            <a:ext cx="5486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66688"/>
                </a:solidFill>
              </a:rPr>
              <a:t>Developed by Prayburn Links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C9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8288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Minimum Cost to Run the 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55F7A"/>
                </a:solidFill>
              </a:rPr>
              <a:t>Three costs are required to publish and run the app on both iOS and Android. Nothing else is needed.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920240"/>
            <a:ext cx="11430000" cy="1280160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920240"/>
            <a:ext cx="73152" cy="128016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01168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234E"/>
                </a:solidFill>
              </a:rPr>
              <a:t>Firebase Spark Plan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20116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800" b="1" i="0">
                <a:solidFill>
                  <a:srgbClr val="27AE60"/>
                </a:solidFill>
              </a:rPr>
              <a:t>R 0 /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423160"/>
            <a:ext cx="11064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55F7A"/>
                </a:solidFill>
              </a:rPr>
              <a:t>Free tier covers: Authentication, Firestore database, file Storage, and push notifications.
No credit card required. Sufficient for the full app at current membership scale.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383280"/>
            <a:ext cx="11430000" cy="1280160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3383280"/>
            <a:ext cx="73152" cy="128016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347472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234E"/>
                </a:solidFill>
              </a:rPr>
              <a:t>Google Play Developer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34747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800" b="1" i="0">
                <a:solidFill>
                  <a:srgbClr val="1A73E8"/>
                </a:solidFill>
              </a:rPr>
              <a:t>R 450  once-off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3886200"/>
            <a:ext cx="11064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55F7A"/>
                </a:solidFill>
              </a:rPr>
              <a:t>One-time registration fee to publish on the Google Play Store (Android).
No annual renewal — pay once, publish forever.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846320"/>
            <a:ext cx="11430000" cy="1280160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" y="4846320"/>
            <a:ext cx="73152" cy="128016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93776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234E"/>
                </a:solidFill>
              </a:rPr>
              <a:t>Apple Developer Program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49377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800" b="1" i="0">
                <a:solidFill>
                  <a:srgbClr val="1C1C1E"/>
                </a:solidFill>
              </a:rPr>
              <a:t>R 1,950 / year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349240"/>
            <a:ext cx="11064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55F7A"/>
                </a:solidFill>
              </a:rPr>
              <a:t>Annual membership required to publish on the Apple App Store (iOS).
Renewed every 12 months to keep the app live on iPhone and iPad.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6400800"/>
            <a:ext cx="11430000" cy="384048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6437376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9A03C"/>
                </a:solidFill>
              </a:rPr>
              <a:t>Total bare minimum:   R 450 once-off  +  R 1,950 / year   —   Firebase is completely free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" y="6629400"/>
            <a:ext cx="5486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888888"/>
                </a:solidFill>
              </a:rPr>
              <a:t>Developed by Prayburn Links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C9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8288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Maintenance Effort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55F7A"/>
                </a:solidFill>
              </a:rPr>
              <a:t>Once deployed, the app requires minimal ongoing effort. Most tasks are admin-level, not developer-level.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828800"/>
            <a:ext cx="5669280" cy="2103120"/>
          </a:xfrm>
          <a:prstGeom prst="rect">
            <a:avLst/>
          </a:prstGeom>
          <a:solidFill>
            <a:srgbClr val="F0F4FF"/>
          </a:solidFill>
          <a:ln w="1524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828800"/>
            <a:ext cx="5669280" cy="4114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874520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Daily — Admin Level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331720"/>
            <a:ext cx="5394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555F7A"/>
                </a:solidFill>
              </a:rPr>
              <a:t>• Post new events and update details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555F7A"/>
                </a:solidFill>
              </a:rPr>
              <a:t>• Approve new member registrations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555F7A"/>
                </a:solidFill>
              </a:rPr>
              <a:t>• Monitor prayer wall for inappropriate content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555F7A"/>
                </a:solidFill>
              </a:rPr>
              <a:t>• Post announcements via notification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828800"/>
            <a:ext cx="5669280" cy="2103120"/>
          </a:xfrm>
          <a:prstGeom prst="rect">
            <a:avLst/>
          </a:prstGeom>
          <a:solidFill>
            <a:srgbClr val="F0F4FF"/>
          </a:solidFill>
          <a:ln w="15240">
            <a:solidFill>
              <a:srgbClr val="C9A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60" y="1828800"/>
            <a:ext cx="5669280" cy="411480"/>
          </a:xfrm>
          <a:prstGeom prst="rect">
            <a:avLst/>
          </a:prstGeom>
          <a:solidFill>
            <a:srgbClr val="C9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1874520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Monthly — Admin Level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2331720"/>
            <a:ext cx="5394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555F7A"/>
                </a:solidFill>
              </a:rPr>
              <a:t>• Review giving logs and download reports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555F7A"/>
                </a:solidFill>
              </a:rPr>
              <a:t>• Update National Board or district info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555F7A"/>
                </a:solidFill>
              </a:rPr>
              <a:t>• Upload new documents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555F7A"/>
                </a:solidFill>
              </a:rPr>
              <a:t>• Check Firebase usage dashboard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114800"/>
            <a:ext cx="5669280" cy="2103120"/>
          </a:xfrm>
          <a:prstGeom prst="rect">
            <a:avLst/>
          </a:prstGeom>
          <a:solidFill>
            <a:srgbClr val="F0F4FF"/>
          </a:solidFill>
          <a:ln w="15240">
            <a:solidFill>
              <a:srgbClr val="275E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4114800"/>
            <a:ext cx="5669280" cy="411480"/>
          </a:xfrm>
          <a:prstGeom prst="rect">
            <a:avLst/>
          </a:prstGeom>
          <a:solidFill>
            <a:srgbClr val="275E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4160520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Quarterly — Developer Level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4617720"/>
            <a:ext cx="5394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555F7A"/>
                </a:solidFill>
              </a:rPr>
              <a:t>• Apply Expo / React Native SDK updates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555F7A"/>
                </a:solidFill>
              </a:rPr>
              <a:t>• Review Firebase security rules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555F7A"/>
                </a:solidFill>
              </a:rPr>
              <a:t>• Test on latest iOS and Android versions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555F7A"/>
                </a:solidFill>
              </a:rPr>
              <a:t>• Review push notification delivery rates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9360" y="4114800"/>
            <a:ext cx="5669280" cy="2103120"/>
          </a:xfrm>
          <a:prstGeom prst="rect">
            <a:avLst/>
          </a:prstGeom>
          <a:solidFill>
            <a:srgbClr val="F0F4FF"/>
          </a:solidFill>
          <a:ln w="15240">
            <a:solidFill>
              <a:srgbClr val="555F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09360" y="4114800"/>
            <a:ext cx="5669280" cy="411480"/>
          </a:xfrm>
          <a:prstGeom prst="rect">
            <a:avLst/>
          </a:prstGeom>
          <a:solidFill>
            <a:srgbClr val="555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4160520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As Needed — Developer Level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4617720"/>
            <a:ext cx="5394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555F7A"/>
                </a:solidFill>
              </a:rPr>
              <a:t>• Add new features or screens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555F7A"/>
                </a:solidFill>
              </a:rPr>
              <a:t>• Fix any bugs reported by members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555F7A"/>
                </a:solidFill>
              </a:rPr>
              <a:t>• Scale Firebase plan if usage grows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555F7A"/>
                </a:solidFill>
              </a:rPr>
              <a:t>• Publish app store updates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" y="6629400"/>
            <a:ext cx="5486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888888"/>
                </a:solidFill>
              </a:rPr>
              <a:t>Developed by Prayburn Links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9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12188952" cy="868680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8288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Developer Time — What to Expect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14400"/>
            <a:ext cx="12188952" cy="36576"/>
          </a:xfrm>
          <a:prstGeom prst="rect">
            <a:avLst/>
          </a:prstGeom>
          <a:solidFill>
            <a:srgbClr val="C9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097280"/>
            <a:ext cx="11430000" cy="411480"/>
          </a:xfrm>
          <a:prstGeom prst="rect">
            <a:avLst/>
          </a:prstGeom>
          <a:solidFill>
            <a:srgbClr val="222D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9A03C"/>
                </a:solidFill>
              </a:rPr>
              <a:t>Task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0" y="11430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C9A03C"/>
                </a:solidFill>
              </a:rPr>
              <a:t>Estimate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554480"/>
            <a:ext cx="11430000" cy="594360"/>
          </a:xfrm>
          <a:prstGeom prst="rect">
            <a:avLst/>
          </a:prstGeom>
          <a:solidFill>
            <a:srgbClr val="222D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64592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D6FF"/>
                </a:solidFill>
              </a:rPr>
              <a:t>Routine maintenance (updates, fixes)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0" y="164592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C9A03C"/>
                </a:solidFill>
              </a:rPr>
              <a:t>1–2 hrs / month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240280"/>
            <a:ext cx="11430000" cy="594360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33172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D6FF"/>
                </a:solidFill>
              </a:rPr>
              <a:t>New feature development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233172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C9A03C"/>
                </a:solidFill>
              </a:rPr>
              <a:t>4–16 hrs / feature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926080"/>
            <a:ext cx="11430000" cy="594360"/>
          </a:xfrm>
          <a:prstGeom prst="rect">
            <a:avLst/>
          </a:prstGeom>
          <a:solidFill>
            <a:srgbClr val="222D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01752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D6FF"/>
                </a:solidFill>
              </a:rPr>
              <a:t>App Store submission (major update)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301752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C9A03C"/>
                </a:solidFill>
              </a:rPr>
              <a:t>2–4 hrs per platform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611880"/>
            <a:ext cx="11430000" cy="594360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370332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D6FF"/>
                </a:solidFill>
              </a:rPr>
              <a:t>Firebase admin &amp; monitoring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370332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C9A03C"/>
                </a:solidFill>
              </a:rPr>
              <a:t>&lt; 1 hr / month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4297680"/>
            <a:ext cx="11430000" cy="594360"/>
          </a:xfrm>
          <a:prstGeom prst="rect">
            <a:avLst/>
          </a:prstGeom>
          <a:solidFill>
            <a:srgbClr val="222D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438912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D6FF"/>
                </a:solidFill>
              </a:rPr>
              <a:t>Onboarding new admin users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0" y="438912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C9A03C"/>
                </a:solidFill>
              </a:rPr>
              <a:t>30 min / user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4983480"/>
            <a:ext cx="11430000" cy="594360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507492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D6FF"/>
                </a:solidFill>
              </a:rPr>
              <a:t>Annual dependency &amp; security review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61120" y="507492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C9A03C"/>
                </a:solidFill>
              </a:rPr>
              <a:t>4–8 hrs / year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598932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9A03C"/>
                </a:solidFill>
              </a:rPr>
              <a:t>Total estimated ongoing effort:  ~2–4 hours per month for a single developer or tech-savvy admin.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" y="6629400"/>
            <a:ext cx="5486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66688"/>
                </a:solidFill>
              </a:rPr>
              <a:t>Developed by Prayburn Links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C9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8288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Launch Readiness Checklist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80160"/>
            <a:ext cx="457200" cy="4572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2801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32588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4E"/>
                </a:solidFill>
              </a:rPr>
              <a:t>Authentication &amp; Roles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9039" y="1325880"/>
            <a:ext cx="79552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5F7A"/>
                </a:solidFill>
              </a:rPr>
              <a:t>Login, register, approval flow complete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801367"/>
            <a:ext cx="457200" cy="4572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801367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1847087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4E"/>
                </a:solidFill>
              </a:rPr>
              <a:t>Events System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39" y="1847087"/>
            <a:ext cx="79552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5F7A"/>
                </a:solidFill>
              </a:rPr>
              <a:t>Creation, registration, POP upload working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322576"/>
            <a:ext cx="457200" cy="4572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232257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2368296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4E"/>
                </a:solidFill>
              </a:rPr>
              <a:t>Giving Screen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368296"/>
            <a:ext cx="79552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5F7A"/>
                </a:solidFill>
              </a:rPr>
              <a:t>All 6 funds, amounts, bank details live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843784"/>
            <a:ext cx="457200" cy="4572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2843784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2889504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4E"/>
                </a:solidFill>
              </a:rPr>
              <a:t>Prayer Wall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39" y="2889504"/>
            <a:ext cx="79552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5F7A"/>
                </a:solidFill>
              </a:rPr>
              <a:t>Submit, pray, national/district scoping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364991"/>
            <a:ext cx="457200" cy="4572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3364991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3410711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4E"/>
                </a:solidFill>
              </a:rPr>
              <a:t>Media Screen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49039" y="3410711"/>
            <a:ext cx="79552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5F7A"/>
                </a:solidFill>
              </a:rPr>
              <a:t>YouTube, Facebook, daily scripture, live badge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3886200"/>
            <a:ext cx="457200" cy="4572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38862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393192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4E"/>
                </a:solidFill>
              </a:rPr>
              <a:t>Districts &amp; Board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49039" y="3931920"/>
            <a:ext cx="79552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5F7A"/>
                </a:solidFill>
              </a:rPr>
              <a:t>All 9 districts + National Board profiles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4407408"/>
            <a:ext cx="457200" cy="4572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" y="440740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4453128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4E"/>
                </a:solidFill>
              </a:rPr>
              <a:t>Documents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4453128"/>
            <a:ext cx="79552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5F7A"/>
                </a:solidFill>
              </a:rPr>
              <a:t>Upload and browse church documents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4928616"/>
            <a:ext cx="457200" cy="4572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5760" y="492861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0120" y="4974336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4E"/>
                </a:solidFill>
              </a:rPr>
              <a:t>Push Notifications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49039" y="4974336"/>
            <a:ext cx="79552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5F7A"/>
                </a:solidFill>
              </a:rPr>
              <a:t>Expo Notifications integrated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5449823"/>
            <a:ext cx="457200" cy="4572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5760" y="5449823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" y="5495543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4E"/>
                </a:solidFill>
              </a:rPr>
              <a:t>Admin Panel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749039" y="5495543"/>
            <a:ext cx="79552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5F7A"/>
                </a:solidFill>
              </a:rPr>
              <a:t>User management, event creation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5760" y="5971031"/>
            <a:ext cx="457200" cy="4572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5760" y="5971031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0120" y="6016751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4E"/>
                </a:solidFill>
              </a:rPr>
              <a:t>Automated Tests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749039" y="6016751"/>
            <a:ext cx="79552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5F7A"/>
                </a:solidFill>
              </a:rPr>
              <a:t>Jest test suite configured and passing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74320" y="6629400"/>
            <a:ext cx="5486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888888"/>
                </a:solidFill>
              </a:rPr>
              <a:t>Developed by Prayburn Links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88952" cy="73152"/>
          </a:xfrm>
          <a:prstGeom prst="rect">
            <a:avLst/>
          </a:prstGeom>
          <a:solidFill>
            <a:srgbClr val="C9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88952" cy="914400"/>
          </a:xfrm>
          <a:prstGeom prst="rect">
            <a:avLst/>
          </a:prstGeom>
          <a:solidFill>
            <a:srgbClr val="C9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C9A03C"/>
                </a:solidFill>
              </a:rPr>
              <a:t>Download. Connect. Worship.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FFFFFF"/>
                </a:solidFill>
              </a:rPr>
              <a:t>The PPC National App is ready to launch.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01752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CCD6FF"/>
                </a:solidFill>
              </a:rPr>
              <a:t>Questions?  Contact the development team to get started today.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234E"/>
                </a:solidFill>
              </a:rPr>
              <a:t>Pentecostal Protestant Church · South Africa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6629400"/>
            <a:ext cx="5486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66688"/>
                </a:solidFill>
              </a:rPr>
              <a:t>Developed by Prayburn Links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